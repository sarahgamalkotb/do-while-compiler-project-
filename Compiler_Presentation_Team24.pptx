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0" y="731520"/>
            <a:ext cx="32004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0" b="1" dirty="0">
                <a:solidFill>
                  <a:srgbClr val="161B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}</a:t>
            </a:r>
            <a:endParaRPr lang="en-US" sz="20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64008" cy="310896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91440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58A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Do-While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Compiler Project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640080" y="2743200"/>
            <a:ext cx="704088" cy="256032"/>
          </a:xfrm>
          <a:prstGeom prst="roundRect">
            <a:avLst>
              <a:gd name="adj" fmla="val 14286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761488"/>
            <a:ext cx="704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CET313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234440" y="2743200"/>
            <a:ext cx="1833372" cy="256032"/>
          </a:xfrm>
          <a:prstGeom prst="roundRect">
            <a:avLst>
              <a:gd name="adj" fmla="val 14286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34440" y="2761488"/>
            <a:ext cx="1833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Theory of Computing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83280" y="2743200"/>
            <a:ext cx="1138428" cy="256032"/>
          </a:xfrm>
          <a:prstGeom prst="roundRect">
            <a:avLst>
              <a:gd name="adj" fmla="val 14286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2761488"/>
            <a:ext cx="11384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 2026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324612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Sarah Gamal Mohamed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Ahd Mohamed Elazeb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Battol Mohamed Galal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44805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3B34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Team  24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640080"/>
            <a:ext cx="8321040" cy="18288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777240"/>
            <a:ext cx="1554480" cy="173736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777240"/>
            <a:ext cx="54864" cy="173736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8229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02920" y="1298448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Lexical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965960" y="1645920"/>
            <a:ext cx="137160" cy="0"/>
          </a:xfrm>
          <a:prstGeom prst="line">
            <a:avLst/>
          </a:prstGeom>
          <a:noFill/>
          <a:ln w="25400">
            <a:solidFill>
              <a:srgbClr val="3036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03120" y="777240"/>
            <a:ext cx="1554480" cy="1737360"/>
          </a:xfrm>
          <a:prstGeom prst="rect">
            <a:avLst/>
          </a:prstGeom>
          <a:solidFill>
            <a:srgbClr val="161B22"/>
          </a:solidFill>
          <a:ln w="12700">
            <a:solidFill>
              <a:srgbClr val="BC8C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103120" y="777240"/>
            <a:ext cx="54864" cy="1737360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94560" y="8229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194560" y="1298448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CFG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0" y="1645920"/>
            <a:ext cx="137160" cy="0"/>
          </a:xfrm>
          <a:prstGeom prst="line">
            <a:avLst/>
          </a:prstGeom>
          <a:noFill/>
          <a:ln w="25400">
            <a:solidFill>
              <a:srgbClr val="30363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794760" y="777240"/>
            <a:ext cx="1554480" cy="173736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794760" y="777240"/>
            <a:ext cx="54864" cy="173736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86200" y="8229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3886200" y="1298448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349240" y="1645920"/>
            <a:ext cx="137160" cy="0"/>
          </a:xfrm>
          <a:prstGeom prst="line">
            <a:avLst/>
          </a:prstGeom>
          <a:noFill/>
          <a:ln w="25400">
            <a:solidFill>
              <a:srgbClr val="30363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0" y="777240"/>
            <a:ext cx="1554480" cy="1737360"/>
          </a:xfrm>
          <a:prstGeom prst="rect">
            <a:avLst/>
          </a:prstGeom>
          <a:solidFill>
            <a:srgbClr val="161B22"/>
          </a:solidFill>
          <a:ln w="12700">
            <a:solidFill>
              <a:srgbClr val="E3B34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0" y="777240"/>
            <a:ext cx="54864" cy="1737360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77840" y="8229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5577840" y="1298448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Analyzer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040880" y="1645920"/>
            <a:ext cx="137160" cy="0"/>
          </a:xfrm>
          <a:prstGeom prst="line">
            <a:avLst/>
          </a:prstGeom>
          <a:noFill/>
          <a:ln w="25400">
            <a:solidFill>
              <a:srgbClr val="30363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178040" y="777240"/>
            <a:ext cx="1554480" cy="1737360"/>
          </a:xfrm>
          <a:prstGeom prst="rect">
            <a:avLst/>
          </a:prstGeom>
          <a:solidFill>
            <a:srgbClr val="161B22"/>
          </a:solidFill>
          <a:ln w="12700">
            <a:solidFill>
              <a:srgbClr val="F8514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178040" y="777240"/>
            <a:ext cx="54864" cy="1737360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69480" y="8229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7269480" y="1298448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Assembly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11480" y="2697480"/>
            <a:ext cx="3840480" cy="96012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02920" y="27249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Input (code.txt)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02920" y="301752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i;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= 1;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 { printf("%d\n",i); i++; } while(i&lt;5);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46320" y="2697480"/>
            <a:ext cx="3840480" cy="96012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937760" y="27249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Outputs Generated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937760" y="301752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lexeme_table.txt  •  cfg.txt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syntax_tree.txt   •  semantic.txt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assembly.txt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11480" y="3840480"/>
            <a:ext cx="8275320" cy="640080"/>
          </a:xfrm>
          <a:prstGeom prst="rect">
            <a:avLst/>
          </a:prstGeom>
          <a:solidFill>
            <a:srgbClr val="161B22"/>
          </a:solidFill>
          <a:ln w="12700">
            <a:solidFill>
              <a:srgbClr val="8B949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502920" y="389534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 Implemented: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2743200" y="3895344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Do-While statement — executes body at least once, then checks the condition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1 — Lexical Analyzer (Tokenizer)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640080"/>
            <a:ext cx="8321040" cy="18288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713232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source code characters into a stream of classified tokens.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078992"/>
            <a:ext cx="3977640" cy="713232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078992"/>
            <a:ext cx="54864" cy="713232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9496" y="113385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8A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KEYWORDS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39496" y="1399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  while  int  float  printf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480" y="1901952"/>
            <a:ext cx="3977640" cy="713232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11480" y="1901952"/>
            <a:ext cx="54864" cy="713232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9496" y="195681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FB9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IDENTIFIERS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39496" y="22219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1480" y="2724912"/>
            <a:ext cx="3977640" cy="713232"/>
          </a:xfrm>
          <a:prstGeom prst="rect">
            <a:avLst/>
          </a:prstGeom>
          <a:solidFill>
            <a:srgbClr val="161B22"/>
          </a:solidFill>
          <a:ln w="12700">
            <a:solidFill>
              <a:srgbClr val="E3B34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11480" y="2724912"/>
            <a:ext cx="54864" cy="713232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9496" y="27797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3B34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OPERATORS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39496" y="3044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 ++  &lt;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17720" y="1078992"/>
            <a:ext cx="3977640" cy="713232"/>
          </a:xfrm>
          <a:prstGeom prst="rect">
            <a:avLst/>
          </a:prstGeom>
          <a:solidFill>
            <a:srgbClr val="161B22"/>
          </a:solidFill>
          <a:ln w="12700">
            <a:solidFill>
              <a:srgbClr val="BC8C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17720" y="1078992"/>
            <a:ext cx="54864" cy="713232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45736" y="113385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C8C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SEPARATORS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45736" y="1399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 )  { }  ;  ,  "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617720" y="1901952"/>
            <a:ext cx="3977640" cy="713232"/>
          </a:xfrm>
          <a:prstGeom prst="rect">
            <a:avLst/>
          </a:prstGeom>
          <a:solidFill>
            <a:srgbClr val="161B22"/>
          </a:solidFill>
          <a:ln w="12700">
            <a:solidFill>
              <a:srgbClr val="F8514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17720" y="1901952"/>
            <a:ext cx="54864" cy="713232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45736" y="195681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51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NUMBERS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745736" y="22219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1  5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11480" y="3584448"/>
            <a:ext cx="8275320" cy="11430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02920" y="362102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Lexeme Table Output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3895344"/>
            <a:ext cx="2377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108960" y="3895344"/>
            <a:ext cx="2377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Lexeme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669280" y="3895344"/>
            <a:ext cx="2377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Token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48640" y="4037076"/>
            <a:ext cx="2377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108960" y="4037076"/>
            <a:ext cx="2377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669280" y="4037076"/>
            <a:ext cx="2377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KEYWORD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48640" y="4178808"/>
            <a:ext cx="2377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108960" y="4178808"/>
            <a:ext cx="2377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printf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669280" y="4178808"/>
            <a:ext cx="2377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KEYWORD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48640" y="4320540"/>
            <a:ext cx="2377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108960" y="4320540"/>
            <a:ext cx="2377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669280" y="4320540"/>
            <a:ext cx="2377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IDENTIFIER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48640" y="4462272"/>
            <a:ext cx="2377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3108960" y="4462272"/>
            <a:ext cx="2377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++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669280" y="4462272"/>
            <a:ext cx="2377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OPERATOR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48640" y="4604004"/>
            <a:ext cx="2377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108960" y="4604004"/>
            <a:ext cx="2377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669280" y="4604004"/>
            <a:ext cx="2377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CFG + Phase 2 — Bottom-Up Shift-Reduce Parser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640080"/>
            <a:ext cx="8321040" cy="18288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749808"/>
            <a:ext cx="4297680" cy="3246120"/>
          </a:xfrm>
          <a:prstGeom prst="rect">
            <a:avLst/>
          </a:prstGeom>
          <a:solidFill>
            <a:srgbClr val="161B22"/>
          </a:solidFill>
          <a:ln w="12700">
            <a:solidFill>
              <a:srgbClr val="BC8C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749808"/>
            <a:ext cx="54864" cy="3246120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79552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C8C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 Free Grammar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161288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DoWhileStmt → do { StmtList } while ( Cond ) ;</a:t>
            </a:r>
            <a:endParaRPr lang="en-US" sz="920" dirty="0"/>
          </a:p>
        </p:txBody>
      </p:sp>
      <p:sp>
        <p:nvSpPr>
          <p:cNvPr id="9" name="Text 7"/>
          <p:cNvSpPr/>
          <p:nvPr/>
        </p:nvSpPr>
        <p:spPr>
          <a:xfrm>
            <a:off x="548640" y="1426464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StmtList    → Statement StmtList | ε</a:t>
            </a:r>
            <a:endParaRPr lang="en-US" sz="920" dirty="0"/>
          </a:p>
        </p:txBody>
      </p:sp>
      <p:sp>
        <p:nvSpPr>
          <p:cNvPr id="10" name="Text 8"/>
          <p:cNvSpPr/>
          <p:nvPr/>
        </p:nvSpPr>
        <p:spPr>
          <a:xfrm>
            <a:off x="548640" y="1691640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Statement   → PrintfStmt | Assignment</a:t>
            </a:r>
            <a:endParaRPr lang="en-US" sz="920" dirty="0"/>
          </a:p>
        </p:txBody>
      </p:sp>
      <p:sp>
        <p:nvSpPr>
          <p:cNvPr id="11" name="Text 9"/>
          <p:cNvSpPr/>
          <p:nvPr/>
        </p:nvSpPr>
        <p:spPr>
          <a:xfrm>
            <a:off x="548640" y="1956816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Assignment  → ID = Expr ; | ID++ ; | ID-- ;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548640" y="2221992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PrintfStmt  → printf ( " STR " , ID ) ;</a:t>
            </a:r>
            <a:endParaRPr lang="en-US" sz="920" dirty="0"/>
          </a:p>
        </p:txBody>
      </p:sp>
      <p:sp>
        <p:nvSpPr>
          <p:cNvPr id="13" name="Text 11"/>
          <p:cNvSpPr/>
          <p:nvPr/>
        </p:nvSpPr>
        <p:spPr>
          <a:xfrm>
            <a:off x="548640" y="2487168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Condition   → Expr RelOp Expr</a:t>
            </a:r>
            <a:endParaRPr lang="en-US" sz="920" dirty="0"/>
          </a:p>
        </p:txBody>
      </p:sp>
      <p:sp>
        <p:nvSpPr>
          <p:cNvPr id="14" name="Text 12"/>
          <p:cNvSpPr/>
          <p:nvPr/>
        </p:nvSpPr>
        <p:spPr>
          <a:xfrm>
            <a:off x="548640" y="2752344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RelOp       → &lt; | &gt; | == | != | &lt;= | &gt;=</a:t>
            </a:r>
            <a:endParaRPr lang="en-US" sz="920" dirty="0"/>
          </a:p>
        </p:txBody>
      </p:sp>
      <p:sp>
        <p:nvSpPr>
          <p:cNvPr id="15" name="Text 13"/>
          <p:cNvSpPr/>
          <p:nvPr/>
        </p:nvSpPr>
        <p:spPr>
          <a:xfrm>
            <a:off x="548640" y="3017520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Expression  → Term | Expr + Term | Expr - Term</a:t>
            </a:r>
            <a:endParaRPr lang="en-US" sz="920" dirty="0"/>
          </a:p>
        </p:txBody>
      </p:sp>
      <p:sp>
        <p:nvSpPr>
          <p:cNvPr id="16" name="Text 14"/>
          <p:cNvSpPr/>
          <p:nvPr/>
        </p:nvSpPr>
        <p:spPr>
          <a:xfrm>
            <a:off x="548640" y="3282696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Term        → Factor | Term * Factor</a:t>
            </a:r>
            <a:endParaRPr lang="en-US" sz="920" dirty="0"/>
          </a:p>
        </p:txBody>
      </p:sp>
      <p:sp>
        <p:nvSpPr>
          <p:cNvPr id="17" name="Text 15"/>
          <p:cNvSpPr/>
          <p:nvPr/>
        </p:nvSpPr>
        <p:spPr>
          <a:xfrm>
            <a:off x="548640" y="3547872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Factor      → IDENTIFIER | NUMBER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4892040" y="749808"/>
            <a:ext cx="3794760" cy="150876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92040" y="749808"/>
            <a:ext cx="54864" cy="150876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0" y="79552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8A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Bottom-Up Shift-Reduce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029200" y="1161288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SHIFT  →</a:t>
            </a:r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move token onto stack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REDUCE →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apply grammar rule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Goal   →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stack = DoWhileStmt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92040" y="2377440"/>
            <a:ext cx="3794760" cy="161848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029200" y="242316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3B34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Parse Steps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0" y="274320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SHIFT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126480" y="274320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'do'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029200" y="299008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SHIFT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126480" y="299008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'printf'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029200" y="323697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REDUCE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126480" y="323697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Factor→ID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029200" y="3483864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REDUCE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126480" y="348386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PrintfStmt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029200" y="373075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REDUCE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126480" y="373075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DoWhileStmt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11480" y="4114800"/>
            <a:ext cx="8275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Parser simulates LR(1) behavior using Shift-Reduce with hardcoded rule priorities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2 — Abstract Syntax Tree (AST)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640080"/>
            <a:ext cx="8321040" cy="18288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71323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produced by the Shift-Reduce parser after processing the Do-While statement: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024128"/>
            <a:ext cx="4160520" cy="34290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0698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B9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Text Representation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37160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|-- DoWhileStmt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1570939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  |-- Declaration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2920" y="177027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  |   |-- int / i / ;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2920" y="196961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  |-- Assignment (i=1)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2920" y="2168957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  |-- do  {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2920" y="2368296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  |-- StatementList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2920" y="2567635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  |   |-- Statement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2920" y="2766974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  |   |   |-- PrintfStmt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02920" y="2966314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  |   |-- Statement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2920" y="3165653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  |   |   |-- Assignment (i++)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02920" y="33649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  |-- }  while  (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2920" y="3564331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  |-- Condition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02920" y="376367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  |   |-- Expr RelOp Expr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02920" y="396301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  |   |   |-- i &lt; 5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02920" y="4162349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  |-- )  ;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709160" y="1024128"/>
            <a:ext cx="3977640" cy="34290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846320" y="10698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Nodes Explained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1389888"/>
            <a:ext cx="45720" cy="27432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138988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DoWhileStmt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583680" y="138988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— wraps the entire do-while block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754880" y="1769364"/>
            <a:ext cx="45720" cy="27432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92040" y="176936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Declaration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583680" y="176936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i;  — type + name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754880" y="2148840"/>
            <a:ext cx="45720" cy="27432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92040" y="21488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Assignment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583680" y="21488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= 1;  or  i++;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754880" y="2528316"/>
            <a:ext cx="45720" cy="274320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92040" y="252831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StatementList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583680" y="25283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of statements inside {}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754880" y="2907792"/>
            <a:ext cx="45720" cy="274320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92040" y="29077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PrintfStmt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583680" y="29077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printf("%d\n", i);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754880" y="3287268"/>
            <a:ext cx="45720" cy="274320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92040" y="32872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Condition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583680" y="32872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&lt; 5  — holds ExprRelOpExpr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754880" y="3666744"/>
            <a:ext cx="45720" cy="274320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92040" y="366674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RelOp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583680" y="366674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operator: &lt;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754880" y="4046220"/>
            <a:ext cx="45720" cy="274320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92040" y="40462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Factor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6583680" y="40462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 node — IDENTIFIER or NUMBER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3 — Semantic Analyzer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640080"/>
            <a:ext cx="8321040" cy="18288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71323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Verifies that the code is meaningful — beyond just being structurally correct.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051560"/>
            <a:ext cx="8275320" cy="59436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051560"/>
            <a:ext cx="54864" cy="59436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7899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 Variable Declaration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46120" y="1078992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identifier used must be declared (int/float). Undeclared variables raise an error.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1728216"/>
            <a:ext cx="8275320" cy="59436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11480" y="1728216"/>
            <a:ext cx="54864" cy="59436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175564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 Type Tracking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46120" y="175564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Symbol table maps variable names to their types (e.g. i → int).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" y="2404872"/>
            <a:ext cx="8275320" cy="59436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11480" y="2404872"/>
            <a:ext cx="54864" cy="59436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43230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 ++ / -- Validation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246120" y="2432304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Increment/decrement operators are only applied to declared variables.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11480" y="3081528"/>
            <a:ext cx="8275320" cy="594360"/>
          </a:xfrm>
          <a:prstGeom prst="rect">
            <a:avLst/>
          </a:prstGeom>
          <a:solidFill>
            <a:srgbClr val="161B22"/>
          </a:solidFill>
          <a:ln w="12700">
            <a:solidFill>
              <a:srgbClr val="E3B34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11480" y="3081528"/>
            <a:ext cx="54864" cy="594360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1089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3B34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 Division by Zero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246120" y="310896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any literal '/ 0' in arithmetic expressions.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11480" y="3758184"/>
            <a:ext cx="8275320" cy="59436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11480" y="3758184"/>
            <a:ext cx="54864" cy="59436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378561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 String Scope Guard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246120" y="3785616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inside "..." are skipped — d, n, %d are not treated as identifiers.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11480" y="4526280"/>
            <a:ext cx="8275320" cy="36576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02920" y="456285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for our input:  PASSED  — No semantic errors found  |  Symbol Table: { i → int }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4 — Assembly Code Generator (x86 NASM)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640080"/>
            <a:ext cx="8321040" cy="18288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71323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Dynamically generated from the lexeme table — not hardcoded. Reads variable names, initial values, and operators.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033272"/>
            <a:ext cx="4937760" cy="34290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07899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assembly.txt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371600"/>
            <a:ext cx="4663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section .data</a:t>
            </a:r>
            <a:endParaRPr lang="en-US" sz="880" dirty="0"/>
          </a:p>
        </p:txBody>
      </p:sp>
      <p:sp>
        <p:nvSpPr>
          <p:cNvPr id="9" name="Text 7"/>
          <p:cNvSpPr/>
          <p:nvPr/>
        </p:nvSpPr>
        <p:spPr>
          <a:xfrm>
            <a:off x="502920" y="1512418"/>
            <a:ext cx="4663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fmt db "%d", 10, 0</a:t>
            </a:r>
            <a:endParaRPr lang="en-US" sz="880" dirty="0"/>
          </a:p>
        </p:txBody>
      </p:sp>
      <p:sp>
        <p:nvSpPr>
          <p:cNvPr id="10" name="Text 8"/>
          <p:cNvSpPr/>
          <p:nvPr/>
        </p:nvSpPr>
        <p:spPr>
          <a:xfrm>
            <a:off x="502920" y="1653235"/>
            <a:ext cx="4663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section .bss</a:t>
            </a:r>
            <a:endParaRPr lang="en-US" sz="880" dirty="0"/>
          </a:p>
        </p:txBody>
      </p:sp>
      <p:sp>
        <p:nvSpPr>
          <p:cNvPr id="11" name="Text 9"/>
          <p:cNvSpPr/>
          <p:nvPr/>
        </p:nvSpPr>
        <p:spPr>
          <a:xfrm>
            <a:off x="502920" y="1794053"/>
            <a:ext cx="4663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 resd 1   ; int i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502920" y="1934870"/>
            <a:ext cx="4663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section .text</a:t>
            </a:r>
            <a:endParaRPr lang="en-US" sz="880" dirty="0"/>
          </a:p>
        </p:txBody>
      </p:sp>
      <p:sp>
        <p:nvSpPr>
          <p:cNvPr id="13" name="Text 11"/>
          <p:cNvSpPr/>
          <p:nvPr/>
        </p:nvSpPr>
        <p:spPr>
          <a:xfrm>
            <a:off x="502920" y="2075688"/>
            <a:ext cx="4663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global main</a:t>
            </a:r>
            <a:endParaRPr lang="en-US" sz="880" dirty="0"/>
          </a:p>
        </p:txBody>
      </p:sp>
      <p:sp>
        <p:nvSpPr>
          <p:cNvPr id="14" name="Text 12"/>
          <p:cNvSpPr/>
          <p:nvPr/>
        </p:nvSpPr>
        <p:spPr>
          <a:xfrm>
            <a:off x="502920" y="2216506"/>
            <a:ext cx="4663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extern printf</a:t>
            </a:r>
            <a:endParaRPr lang="en-US" sz="880" dirty="0"/>
          </a:p>
        </p:txBody>
      </p:sp>
      <p:sp>
        <p:nvSpPr>
          <p:cNvPr id="15" name="Text 13"/>
          <p:cNvSpPr/>
          <p:nvPr/>
        </p:nvSpPr>
        <p:spPr>
          <a:xfrm>
            <a:off x="502920" y="2357323"/>
            <a:ext cx="4663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main: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502920" y="2498141"/>
            <a:ext cx="4663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mov eax, 1</a:t>
            </a:r>
            <a:endParaRPr lang="en-US" sz="880" dirty="0"/>
          </a:p>
        </p:txBody>
      </p:sp>
      <p:sp>
        <p:nvSpPr>
          <p:cNvPr id="17" name="Text 15"/>
          <p:cNvSpPr/>
          <p:nvPr/>
        </p:nvSpPr>
        <p:spPr>
          <a:xfrm>
            <a:off x="502920" y="2638958"/>
            <a:ext cx="4663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mov [i], eax   ; i=1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502920" y="2779776"/>
            <a:ext cx="4663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do_loop:</a:t>
            </a:r>
            <a:endParaRPr lang="en-US" sz="880" dirty="0"/>
          </a:p>
        </p:txBody>
      </p:sp>
      <p:sp>
        <p:nvSpPr>
          <p:cNvPr id="19" name="Text 17"/>
          <p:cNvSpPr/>
          <p:nvPr/>
        </p:nvSpPr>
        <p:spPr>
          <a:xfrm>
            <a:off x="502920" y="2920594"/>
            <a:ext cx="4663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mov eax, [i]</a:t>
            </a:r>
            <a:endParaRPr lang="en-US" sz="880" dirty="0"/>
          </a:p>
        </p:txBody>
      </p:sp>
      <p:sp>
        <p:nvSpPr>
          <p:cNvPr id="20" name="Text 18"/>
          <p:cNvSpPr/>
          <p:nvPr/>
        </p:nvSpPr>
        <p:spPr>
          <a:xfrm>
            <a:off x="502920" y="3061411"/>
            <a:ext cx="4663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push eax</a:t>
            </a:r>
            <a:endParaRPr lang="en-US" sz="880" dirty="0"/>
          </a:p>
        </p:txBody>
      </p:sp>
      <p:sp>
        <p:nvSpPr>
          <p:cNvPr id="21" name="Text 19"/>
          <p:cNvSpPr/>
          <p:nvPr/>
        </p:nvSpPr>
        <p:spPr>
          <a:xfrm>
            <a:off x="502920" y="3202229"/>
            <a:ext cx="4663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push fmt</a:t>
            </a:r>
            <a:endParaRPr lang="en-US" sz="880" dirty="0"/>
          </a:p>
        </p:txBody>
      </p:sp>
      <p:sp>
        <p:nvSpPr>
          <p:cNvPr id="22" name="Text 20"/>
          <p:cNvSpPr/>
          <p:nvPr/>
        </p:nvSpPr>
        <p:spPr>
          <a:xfrm>
            <a:off x="502920" y="3343046"/>
            <a:ext cx="4663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call printf</a:t>
            </a:r>
            <a:endParaRPr lang="en-US" sz="880" dirty="0"/>
          </a:p>
        </p:txBody>
      </p:sp>
      <p:sp>
        <p:nvSpPr>
          <p:cNvPr id="23" name="Text 21"/>
          <p:cNvSpPr/>
          <p:nvPr/>
        </p:nvSpPr>
        <p:spPr>
          <a:xfrm>
            <a:off x="502920" y="3483864"/>
            <a:ext cx="4663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add esp, 8</a:t>
            </a:r>
            <a:endParaRPr lang="en-US" sz="880" dirty="0"/>
          </a:p>
        </p:txBody>
      </p:sp>
      <p:sp>
        <p:nvSpPr>
          <p:cNvPr id="24" name="Text 22"/>
          <p:cNvSpPr/>
          <p:nvPr/>
        </p:nvSpPr>
        <p:spPr>
          <a:xfrm>
            <a:off x="502920" y="3624682"/>
            <a:ext cx="4663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mov eax, [i]</a:t>
            </a:r>
            <a:endParaRPr lang="en-US" sz="880" dirty="0"/>
          </a:p>
        </p:txBody>
      </p:sp>
      <p:sp>
        <p:nvSpPr>
          <p:cNvPr id="25" name="Text 23"/>
          <p:cNvSpPr/>
          <p:nvPr/>
        </p:nvSpPr>
        <p:spPr>
          <a:xfrm>
            <a:off x="502920" y="3765499"/>
            <a:ext cx="4663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add eax, 1  ; i++</a:t>
            </a:r>
            <a:endParaRPr lang="en-US" sz="880" dirty="0"/>
          </a:p>
        </p:txBody>
      </p:sp>
      <p:sp>
        <p:nvSpPr>
          <p:cNvPr id="26" name="Text 24"/>
          <p:cNvSpPr/>
          <p:nvPr/>
        </p:nvSpPr>
        <p:spPr>
          <a:xfrm>
            <a:off x="502920" y="3906317"/>
            <a:ext cx="4663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mov [i], eax</a:t>
            </a:r>
            <a:endParaRPr lang="en-US" sz="880" dirty="0"/>
          </a:p>
        </p:txBody>
      </p:sp>
      <p:sp>
        <p:nvSpPr>
          <p:cNvPr id="27" name="Text 25"/>
          <p:cNvSpPr/>
          <p:nvPr/>
        </p:nvSpPr>
        <p:spPr>
          <a:xfrm>
            <a:off x="502920" y="4047134"/>
            <a:ext cx="4663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cmp eax, 5</a:t>
            </a:r>
            <a:endParaRPr lang="en-US" sz="880" dirty="0"/>
          </a:p>
        </p:txBody>
      </p:sp>
      <p:sp>
        <p:nvSpPr>
          <p:cNvPr id="28" name="Text 26"/>
          <p:cNvSpPr/>
          <p:nvPr/>
        </p:nvSpPr>
        <p:spPr>
          <a:xfrm>
            <a:off x="502920" y="4187952"/>
            <a:ext cx="4663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jl  do_loop</a:t>
            </a:r>
            <a:endParaRPr lang="en-US" sz="880" dirty="0"/>
          </a:p>
        </p:txBody>
      </p:sp>
      <p:sp>
        <p:nvSpPr>
          <p:cNvPr id="29" name="Text 27"/>
          <p:cNvSpPr/>
          <p:nvPr/>
        </p:nvSpPr>
        <p:spPr>
          <a:xfrm>
            <a:off x="502920" y="4328770"/>
            <a:ext cx="4663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mov eax, 0</a:t>
            </a:r>
            <a:endParaRPr lang="en-US" sz="880" dirty="0"/>
          </a:p>
        </p:txBody>
      </p:sp>
      <p:sp>
        <p:nvSpPr>
          <p:cNvPr id="30" name="Text 28"/>
          <p:cNvSpPr/>
          <p:nvPr/>
        </p:nvSpPr>
        <p:spPr>
          <a:xfrm>
            <a:off x="502920" y="4469587"/>
            <a:ext cx="4663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</a:t>
            </a:r>
            <a:endParaRPr lang="en-US" sz="880" dirty="0"/>
          </a:p>
        </p:txBody>
      </p:sp>
      <p:sp>
        <p:nvSpPr>
          <p:cNvPr id="31" name="Shape 29"/>
          <p:cNvSpPr/>
          <p:nvPr/>
        </p:nvSpPr>
        <p:spPr>
          <a:xfrm>
            <a:off x="5532120" y="1033272"/>
            <a:ext cx="3154680" cy="34290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669280" y="107899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669280" y="14173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.data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086600" y="14173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printf format string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669280" y="17830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.bss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086600" y="17830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Reserves memory for variable i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669280" y="21488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main: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086600" y="21488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Initialises i from lexeme table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669280" y="25146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do_loop: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086600" y="25146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— body always runs once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669280" y="28803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 printf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086600" y="288036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Prints current value of i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669280" y="32461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i++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086600" y="32461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 via add eax, 1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669280" y="36118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cmp / jl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086600" y="36118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 check — loops back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669280" y="39776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7086600" y="39776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ends cleanly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Team 24 — Responsibilities &amp; Conclusion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640080"/>
            <a:ext cx="8321040" cy="18288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749808"/>
            <a:ext cx="2743200" cy="256032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749808"/>
            <a:ext cx="54864" cy="256032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79552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8A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Sarah Gamal Mohamed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30352" y="1170432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230104240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30352" y="1444752"/>
            <a:ext cx="2514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Lexical Analyzer (Phase 1)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CFG Design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integration &amp; testing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91840" y="749808"/>
            <a:ext cx="2743200" cy="256032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749808"/>
            <a:ext cx="54864" cy="256032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10712" y="79552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FB9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Ahd Mohamed Elazeb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410712" y="1170432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230105494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410712" y="1444752"/>
            <a:ext cx="2514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 Analyzer (Phase 2)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Shift-Reduce parser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 Tree builder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72200" y="749808"/>
            <a:ext cx="2743200" cy="2560320"/>
          </a:xfrm>
          <a:prstGeom prst="rect">
            <a:avLst/>
          </a:prstGeom>
          <a:solidFill>
            <a:srgbClr val="161B22"/>
          </a:solidFill>
          <a:ln w="12700">
            <a:solidFill>
              <a:srgbClr val="BC8C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72200" y="749808"/>
            <a:ext cx="54864" cy="2560320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91072" y="79552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C8C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Battol Mohamed Galal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291072" y="1170432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240102737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291072" y="1444752"/>
            <a:ext cx="2514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Analyzer (Phase 3)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Assembly Generator (Phase 4)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&amp; presentation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11480" y="3493008"/>
            <a:ext cx="827532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E3B34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11480" y="3493008"/>
            <a:ext cx="54864" cy="1005840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5387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3B34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3858768"/>
            <a:ext cx="8001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implemented a full 4-phase compiler for Do-While statements: Lexer → CFG → Shift-Reduce Parser → Semantic Analyzer → x86 Assembly Generator. The system reads any do-while input file and produces all intermediate outputs automatically.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11480" y="4663440"/>
            <a:ext cx="8275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CET313 — Theory of Computing  |  Spring 2026  |  Team 24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Do-While Compiler — CET313 Spring 2026</dc:title>
  <dc:subject>PptxGenJS Presentation</dc:subject>
  <dc:creator>PptxGenJS</dc:creator>
  <cp:lastModifiedBy>PptxGenJS</cp:lastModifiedBy>
  <cp:revision>1</cp:revision>
  <dcterms:created xsi:type="dcterms:W3CDTF">2026-05-09T12:48:09Z</dcterms:created>
  <dcterms:modified xsi:type="dcterms:W3CDTF">2026-05-09T12:48:09Z</dcterms:modified>
</cp:coreProperties>
</file>